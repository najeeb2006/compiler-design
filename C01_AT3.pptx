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64" r:id="rId6"/>
    <p:sldId id="257" r:id="rId7"/>
    <p:sldId id="258" r:id="rId8"/>
    <p:sldId id="267" r:id="rId9"/>
    <p:sldId id="259" r:id="rId10"/>
    <p:sldId id="260" r:id="rId11"/>
    <p:sldId id="261" r:id="rId12"/>
    <p:sldId id="262" r:id="rId13"/>
    <p:sldId id="265" r:id="rId14"/>
    <p:sldId id="266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/>
        </p:nvSpPr>
        <p:spPr>
          <a:xfrm>
            <a:off x="-72390" y="1453515"/>
            <a:ext cx="12246610" cy="8883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Tokens vs. Lexemes</a:t>
            </a:r>
            <a:endParaRPr lang="en-US" altLang="en-US" b="1" dirty="0">
              <a:latin typeface="Times New Roman" panose="02020603050405020304" pitchFamily="34" charset="0"/>
              <a:cs typeface="Times New Roman" panose="02020603050405020304" pitchFamily="3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338455" y="5236845"/>
            <a:ext cx="2734945" cy="7854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34" charset="0"/>
                <a:cs typeface="Times New Roman" panose="02020603050405020304" pitchFamily="34" charset="0"/>
                <a:sym typeface="+mn-ea"/>
              </a:rPr>
              <a:t>Guided by  </a:t>
            </a:r>
            <a:endParaRPr lang="en-IN" sz="2200" b="1" dirty="0">
              <a:solidFill>
                <a:schemeClr val="tx1"/>
              </a:solidFill>
              <a:latin typeface="Times New Roman" panose="02020603050405020304" pitchFamily="34" charset="0"/>
              <a:cs typeface="Times New Roman" panose="02020603050405020304" pitchFamily="34" charset="0"/>
            </a:endParaRP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34" charset="0"/>
                <a:cs typeface="Times New Roman" panose="02020603050405020304" pitchFamily="34" charset="0"/>
              </a:rPr>
              <a:t>Dr. </a:t>
            </a:r>
            <a:r>
              <a:rPr lang="en-US" altLang="en-IN" sz="2200" dirty="0">
                <a:solidFill>
                  <a:schemeClr val="tx1"/>
                </a:solidFill>
                <a:latin typeface="Times New Roman" panose="02020603050405020304" pitchFamily="34" charset="0"/>
                <a:cs typeface="Times New Roman" panose="02020603050405020304" pitchFamily="34" charset="0"/>
              </a:rPr>
              <a:t>N.DEEPA</a:t>
            </a:r>
            <a:br>
              <a:rPr lang="en-US" sz="2200" dirty="0">
                <a:solidFill>
                  <a:schemeClr val="tx1"/>
                </a:solidFill>
                <a:latin typeface="Times New Roman" panose="02020603050405020304" pitchFamily="34" charset="0"/>
                <a:cs typeface="Times New Roman" panose="02020603050405020304" pitchFamily="34" charset="0"/>
              </a:rPr>
            </a:br>
            <a:endParaRPr lang="en-IN" sz="2200" dirty="0">
              <a:solidFill>
                <a:schemeClr val="tx1"/>
              </a:solidFill>
              <a:latin typeface="Times New Roman" panose="02020603050405020304" pitchFamily="34" charset="0"/>
              <a:cs typeface="Times New Roman" panose="02020603050405020304" pitchFamily="34" charset="0"/>
            </a:endParaRPr>
          </a:p>
          <a:p>
            <a:endParaRPr lang="en-IN" sz="2200" dirty="0">
              <a:solidFill>
                <a:schemeClr val="tx1"/>
              </a:solidFill>
              <a:latin typeface="Times New Roman" panose="02020603050405020304" pitchFamily="34" charset="0"/>
              <a:cs typeface="Times New Roman" panose="02020603050405020304" pitchFamily="34" charset="0"/>
            </a:endParaRPr>
          </a:p>
          <a:p>
            <a:endParaRPr lang="en-IN" sz="2200" dirty="0">
              <a:solidFill>
                <a:schemeClr val="tx1"/>
              </a:solidFill>
              <a:latin typeface="Times New Roman" panose="02020603050405020304" pitchFamily="34" charset="0"/>
              <a:cs typeface="Times New Roman" panose="02020603050405020304" pitchFamily="34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7943215" y="5288915"/>
            <a:ext cx="5915660" cy="14522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200" b="1" dirty="0">
                <a:latin typeface="Times New Roman" panose="02020603050405020304" pitchFamily="34" charset="0"/>
                <a:cs typeface="Times New Roman" panose="02020603050405020304" pitchFamily="34" charset="0"/>
                <a:sym typeface="+mn-ea"/>
              </a:rPr>
              <a:t>Presented by: </a:t>
            </a:r>
            <a:endParaRPr lang="en-US" sz="2200" b="1" dirty="0">
              <a:solidFill>
                <a:schemeClr val="tx1"/>
              </a:solidFill>
              <a:latin typeface="Times New Roman" panose="02020603050405020304" pitchFamily="34" charset="0"/>
              <a:cs typeface="Times New Roman" panose="02020603050405020304" pitchFamily="34" charset="0"/>
            </a:endParaRPr>
          </a:p>
          <a:p>
            <a:r>
              <a:rPr lang="en-US" altLang="en-US" sz="2200" b="1" dirty="0">
                <a:solidFill>
                  <a:schemeClr val="tx1"/>
                </a:solidFill>
                <a:latin typeface="Times New Roman" panose="02020603050405020304" pitchFamily="34" charset="0"/>
                <a:cs typeface="Times New Roman" panose="02020603050405020304" pitchFamily="34" charset="0"/>
              </a:rPr>
              <a:t>AL NAJEEB                192424325</a:t>
            </a:r>
            <a:endParaRPr lang="en-US" altLang="en-US" sz="2200" b="1" dirty="0">
              <a:solidFill>
                <a:schemeClr val="tx1"/>
              </a:solidFill>
              <a:latin typeface="Times New Roman" panose="02020603050405020304" pitchFamily="34" charset="0"/>
              <a:cs typeface="Times New Roman" panose="02020603050405020304" pitchFamily="34" charset="0"/>
            </a:endParaRPr>
          </a:p>
          <a:p>
            <a:endParaRPr lang="en-US" altLang="en-US" sz="2200" b="1" dirty="0">
              <a:solidFill>
                <a:schemeClr val="tx1"/>
              </a:solidFill>
              <a:latin typeface="Times New Roman" panose="02020603050405020304" pitchFamily="34" charset="0"/>
              <a:cs typeface="Times New Roman" panose="020206030504050203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173" y="276560"/>
            <a:ext cx="11300000" cy="887616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1106805" y="2477102"/>
            <a:ext cx="97078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altLang="en-US" sz="28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34" charset="0"/>
                <a:cs typeface="Times New Roman" panose="02020603050405020304" pitchFamily="34" charset="0"/>
              </a:rPr>
              <a:t>CSA1402  COMPILER DESIGN</a:t>
            </a:r>
            <a:endParaRPr lang="en-US" altLang="en-US" sz="28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pitchFamily="34" charset="0"/>
              <a:cs typeface="Times New Roman" panose="020206030504050203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463040" y="365760"/>
            <a:ext cx="9235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UNDERSTANDING TOKENS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822960" y="1737360"/>
            <a:ext cx="12340590" cy="11703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 token is an abstract category representing a class of similar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lexical units in the source code.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822960" y="2907792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Each token has a type and an optional attribute value, e.g.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&lt;id, "count"&gt; for an identifier.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822960" y="4078224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Lexical analysis converts source code into tokens, which the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parser then uses to build the syntax tree.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822960" y="5248656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Grouping characters into tokens reduces complexity for the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syntax and semantic analysis phases.</a:t>
            </a:r>
            <a:endParaRPr lang="en-US" sz="19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rcRect l="1008" t="8397" r="56505" b="-8397"/>
          <a:stretch>
            <a:fillRect/>
          </a:stretch>
        </p:blipFill>
        <p:spPr>
          <a:xfrm>
            <a:off x="8027035" y="1706880"/>
            <a:ext cx="3612515" cy="3992880"/>
          </a:xfrm>
          <a:prstGeom prst="roundRect">
            <a:avLst>
              <a:gd name="adj" fmla="val 19669"/>
            </a:avLst>
          </a:prstGeom>
        </p:spPr>
      </p:pic>
      <p:pic>
        <p:nvPicPr>
          <p:cNvPr id="10" name="Image 0" descr="logo_left.png"/>
          <p:cNvPicPr>
            <a:picLocks noChangeAspect="1"/>
          </p:cNvPicPr>
          <p:nvPr/>
        </p:nvPicPr>
        <p:blipFill>
          <a:blip r:embed="rId2"/>
          <a:srcRect l="7609" r="20713"/>
          <a:stretch>
            <a:fillRect/>
          </a:stretch>
        </p:blipFill>
        <p:spPr>
          <a:xfrm>
            <a:off x="400050" y="228600"/>
            <a:ext cx="753745" cy="1051560"/>
          </a:xfrm>
          <a:prstGeom prst="rect">
            <a:avLst/>
          </a:prstGeom>
        </p:spPr>
      </p:pic>
      <p:pic>
        <p:nvPicPr>
          <p:cNvPr id="11" name="Image 1" descr="logo_right.png"/>
          <p:cNvPicPr>
            <a:picLocks noChangeAspect="1"/>
          </p:cNvPicPr>
          <p:nvPr/>
        </p:nvPicPr>
        <p:blipFill>
          <a:blip r:embed="rId3"/>
          <a:srcRect r="22419"/>
          <a:stretch>
            <a:fillRect/>
          </a:stretch>
        </p:blipFill>
        <p:spPr>
          <a:xfrm>
            <a:off x="10835640" y="228600"/>
            <a:ext cx="892175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463040" y="365760"/>
            <a:ext cx="9235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UNDERSTANDING LEXEMES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822960" y="1737360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 lexeme is the actual sequence of characters in the source code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that matches a token's pattern.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822960" y="2907792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Strings such as "total", "sum", and "count" are all lexemes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matching the identifier token.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822960" y="4078224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Every lexeme belongs to a token class, but many different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lexemes can map to one token type.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822960" y="5248656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The lexical analyzer scans source text and extracts lexemes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using predefined patterns.</a:t>
            </a:r>
            <a:endParaRPr lang="en-US" sz="19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9185" y="1603375"/>
            <a:ext cx="2311400" cy="3778250"/>
          </a:xfrm>
          <a:prstGeom prst="rect">
            <a:avLst/>
          </a:prstGeom>
        </p:spPr>
      </p:pic>
      <p:pic>
        <p:nvPicPr>
          <p:cNvPr id="10" name="Image 0" descr="logo_left.png"/>
          <p:cNvPicPr>
            <a:picLocks noChangeAspect="1"/>
          </p:cNvPicPr>
          <p:nvPr/>
        </p:nvPicPr>
        <p:blipFill>
          <a:blip r:embed="rId2"/>
          <a:srcRect l="7609" r="20713"/>
          <a:stretch>
            <a:fillRect/>
          </a:stretch>
        </p:blipFill>
        <p:spPr>
          <a:xfrm>
            <a:off x="400050" y="228600"/>
            <a:ext cx="753745" cy="1051560"/>
          </a:xfrm>
          <a:prstGeom prst="rect">
            <a:avLst/>
          </a:prstGeom>
        </p:spPr>
      </p:pic>
      <p:pic>
        <p:nvPicPr>
          <p:cNvPr id="11" name="Image 1" descr="logo_right.png"/>
          <p:cNvPicPr>
            <a:picLocks noChangeAspect="1"/>
          </p:cNvPicPr>
          <p:nvPr/>
        </p:nvPicPr>
        <p:blipFill>
          <a:blip r:embed="rId3"/>
          <a:srcRect r="22419"/>
          <a:stretch>
            <a:fillRect/>
          </a:stretch>
        </p:blipFill>
        <p:spPr>
          <a:xfrm>
            <a:off x="10835640" y="228600"/>
            <a:ext cx="892175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463040" y="365760"/>
            <a:ext cx="9235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TOKENS VS LEXEMES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822960" y="1737360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 token is a category, while a lexeme is the concrete instance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appearing in the code.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822960" y="2907792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One token type can correspond to many different lexemes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across a single program.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822960" y="4078224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Token: keyword paired with lexeme 'if'; token: number paired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with lexeme '42'.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822960" y="5248656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Parsers operate on tokens; lexemes are retained for symbol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tables and error messages.</a:t>
            </a:r>
            <a:endParaRPr lang="en-US" sz="19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9490" y="1863090"/>
            <a:ext cx="4724400" cy="4064000"/>
          </a:xfrm>
          <a:prstGeom prst="rect">
            <a:avLst/>
          </a:prstGeom>
        </p:spPr>
      </p:pic>
      <p:pic>
        <p:nvPicPr>
          <p:cNvPr id="10" name="Image 0" descr="logo_left.png"/>
          <p:cNvPicPr>
            <a:picLocks noChangeAspect="1"/>
          </p:cNvPicPr>
          <p:nvPr/>
        </p:nvPicPr>
        <p:blipFill>
          <a:blip r:embed="rId2"/>
          <a:srcRect l="7609" r="20713"/>
          <a:stretch>
            <a:fillRect/>
          </a:stretch>
        </p:blipFill>
        <p:spPr>
          <a:xfrm>
            <a:off x="400050" y="228600"/>
            <a:ext cx="753745" cy="1051560"/>
          </a:xfrm>
          <a:prstGeom prst="rect">
            <a:avLst/>
          </a:prstGeom>
        </p:spPr>
      </p:pic>
      <p:pic>
        <p:nvPicPr>
          <p:cNvPr id="11" name="Image 1" descr="logo_right.png"/>
          <p:cNvPicPr>
            <a:picLocks noChangeAspect="1"/>
          </p:cNvPicPr>
          <p:nvPr/>
        </p:nvPicPr>
        <p:blipFill>
          <a:blip r:embed="rId3"/>
          <a:srcRect r="22419"/>
          <a:stretch>
            <a:fillRect/>
          </a:stretch>
        </p:blipFill>
        <p:spPr>
          <a:xfrm>
            <a:off x="10835640" y="228600"/>
            <a:ext cx="892175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463040" y="365760"/>
            <a:ext cx="9235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SIMULATION RESULTS</a:t>
            </a:r>
            <a:endParaRPr lang="en-US" sz="3200" dirty="0">
              <a:latin typeface="Times New Roman" panose="02020603050405020304" pitchFamily="34" charset="0"/>
              <a:cs typeface="Times New Roman" panose="02020603050405020304" pitchFamily="34" charset="0"/>
            </a:endParaRPr>
          </a:p>
        </p:txBody>
      </p:sp>
      <p:pic>
        <p:nvPicPr>
          <p:cNvPr id="10" name="Image 0" descr="logo_left.png"/>
          <p:cNvPicPr>
            <a:picLocks noChangeAspect="1"/>
          </p:cNvPicPr>
          <p:nvPr/>
        </p:nvPicPr>
        <p:blipFill>
          <a:blip r:embed="rId1"/>
          <a:srcRect l="7609" r="20713"/>
          <a:stretch>
            <a:fillRect/>
          </a:stretch>
        </p:blipFill>
        <p:spPr>
          <a:xfrm>
            <a:off x="400050" y="228600"/>
            <a:ext cx="753745" cy="1051560"/>
          </a:xfrm>
          <a:prstGeom prst="rect">
            <a:avLst/>
          </a:prstGeom>
        </p:spPr>
      </p:pic>
      <p:pic>
        <p:nvPicPr>
          <p:cNvPr id="11" name="Image 1" descr="logo_right.png"/>
          <p:cNvPicPr>
            <a:picLocks noChangeAspect="1"/>
          </p:cNvPicPr>
          <p:nvPr/>
        </p:nvPicPr>
        <p:blipFill>
          <a:blip r:embed="rId2"/>
          <a:srcRect r="22419"/>
          <a:stretch>
            <a:fillRect/>
          </a:stretch>
        </p:blipFill>
        <p:spPr>
          <a:xfrm>
            <a:off x="10835640" y="228600"/>
            <a:ext cx="892175" cy="100584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4552"/>
          <a:stretch>
            <a:fillRect/>
          </a:stretch>
        </p:blipFill>
        <p:spPr>
          <a:xfrm>
            <a:off x="692785" y="1536065"/>
            <a:ext cx="11128375" cy="49930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463040" y="365760"/>
            <a:ext cx="9235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HOW TOKENS ARE SPECIFIED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822960" y="1737360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Token patterns are defined using regular expressions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describing valid character sequences.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822960" y="2907792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The lexical analyzer matches input against these patterns to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identify token boundaries.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822960" y="4078224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When multiple patterns match, the lexer selects the longest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possible lexeme available.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822960" y="5248656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If lengths tie, the pattern listed first, such as a keyword,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takes priority over identifiers.</a:t>
            </a:r>
            <a:endParaRPr lang="en-US" sz="19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105" y="2308860"/>
            <a:ext cx="4171950" cy="2768600"/>
          </a:xfrm>
          <a:prstGeom prst="rect">
            <a:avLst/>
          </a:prstGeom>
        </p:spPr>
      </p:pic>
      <p:pic>
        <p:nvPicPr>
          <p:cNvPr id="11" name="Image 0" descr="logo_left.png"/>
          <p:cNvPicPr>
            <a:picLocks noChangeAspect="1"/>
          </p:cNvPicPr>
          <p:nvPr/>
        </p:nvPicPr>
        <p:blipFill>
          <a:blip r:embed="rId2"/>
          <a:srcRect l="7609" r="20713"/>
          <a:stretch>
            <a:fillRect/>
          </a:stretch>
        </p:blipFill>
        <p:spPr>
          <a:xfrm>
            <a:off x="400050" y="228600"/>
            <a:ext cx="753745" cy="1051560"/>
          </a:xfrm>
          <a:prstGeom prst="rect">
            <a:avLst/>
          </a:prstGeom>
        </p:spPr>
      </p:pic>
      <p:pic>
        <p:nvPicPr>
          <p:cNvPr id="12" name="Image 1" descr="logo_right.png"/>
          <p:cNvPicPr>
            <a:picLocks noChangeAspect="1"/>
          </p:cNvPicPr>
          <p:nvPr/>
        </p:nvPicPr>
        <p:blipFill>
          <a:blip r:embed="rId3"/>
          <a:srcRect r="22419"/>
          <a:stretch>
            <a:fillRect/>
          </a:stretch>
        </p:blipFill>
        <p:spPr>
          <a:xfrm>
            <a:off x="10835640" y="228600"/>
            <a:ext cx="892175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463040" y="365760"/>
            <a:ext cx="9235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ROLE OF THE SYMBOL TABLE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822960" y="1737360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Identifiers and their lexemes are stored in a symbol table for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reference during compilation.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822960" y="2907792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The table records type, scope, memory location, and other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relevant details.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822960" y="4078224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Later phases, like semantic analysis and code generation,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rely on this stored information.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822960" y="5248656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Fast lookup structures, such as hash tables, keep symbol table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access efficient.</a:t>
            </a:r>
            <a:endParaRPr lang="en-US" sz="1900" dirty="0"/>
          </a:p>
        </p:txBody>
      </p:sp>
      <p:pic>
        <p:nvPicPr>
          <p:cNvPr id="9" name="Image 0" descr="logo_left.png"/>
          <p:cNvPicPr>
            <a:picLocks noChangeAspect="1"/>
          </p:cNvPicPr>
          <p:nvPr/>
        </p:nvPicPr>
        <p:blipFill>
          <a:blip r:embed="rId1"/>
          <a:srcRect l="7609" r="20713"/>
          <a:stretch>
            <a:fillRect/>
          </a:stretch>
        </p:blipFill>
        <p:spPr>
          <a:xfrm>
            <a:off x="400050" y="228600"/>
            <a:ext cx="753745" cy="1051560"/>
          </a:xfrm>
          <a:prstGeom prst="rect">
            <a:avLst/>
          </a:prstGeom>
        </p:spPr>
      </p:pic>
      <p:pic>
        <p:nvPicPr>
          <p:cNvPr id="10" name="Image 1" descr="logo_right.png"/>
          <p:cNvPicPr>
            <a:picLocks noChangeAspect="1"/>
          </p:cNvPicPr>
          <p:nvPr/>
        </p:nvPicPr>
        <p:blipFill>
          <a:blip r:embed="rId2"/>
          <a:srcRect r="22419"/>
          <a:stretch>
            <a:fillRect/>
          </a:stretch>
        </p:blipFill>
        <p:spPr>
          <a:xfrm>
            <a:off x="10835640" y="228600"/>
            <a:ext cx="892175" cy="100584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1905635"/>
            <a:ext cx="3482340" cy="33432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463040" y="365760"/>
            <a:ext cx="9235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REAL-TIME APPLICATIONS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822960" y="1737360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Every compiler, like GCC or Clang, uses token and lexeme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recognition as its first step.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822960" y="2907792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IDEs such as VS Code and IntelliJ tokenize code for syntax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highlighting and auto-completion.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822960" y="4078224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Linters and code analyzers tokenize source code to catch style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issues and bugs early.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822960" y="5248656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Search engines and NLP pipelines tokenize text to index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words and analyze language.</a:t>
            </a:r>
            <a:endParaRPr lang="en-US" sz="1900" dirty="0"/>
          </a:p>
        </p:txBody>
      </p:sp>
      <p:pic>
        <p:nvPicPr>
          <p:cNvPr id="9" name="Image 0" descr="logo_left.png"/>
          <p:cNvPicPr>
            <a:picLocks noChangeAspect="1"/>
          </p:cNvPicPr>
          <p:nvPr/>
        </p:nvPicPr>
        <p:blipFill>
          <a:blip r:embed="rId1"/>
          <a:srcRect l="7609" r="20713"/>
          <a:stretch>
            <a:fillRect/>
          </a:stretch>
        </p:blipFill>
        <p:spPr>
          <a:xfrm>
            <a:off x="400050" y="228600"/>
            <a:ext cx="753745" cy="1051560"/>
          </a:xfrm>
          <a:prstGeom prst="rect">
            <a:avLst/>
          </a:prstGeom>
        </p:spPr>
      </p:pic>
      <p:pic>
        <p:nvPicPr>
          <p:cNvPr id="10" name="Image 1" descr="logo_right.png"/>
          <p:cNvPicPr>
            <a:picLocks noChangeAspect="1"/>
          </p:cNvPicPr>
          <p:nvPr/>
        </p:nvPicPr>
        <p:blipFill>
          <a:blip r:embed="rId2"/>
          <a:srcRect r="22419"/>
          <a:stretch>
            <a:fillRect/>
          </a:stretch>
        </p:blipFill>
        <p:spPr>
          <a:xfrm>
            <a:off x="10835640" y="228600"/>
            <a:ext cx="892175" cy="100584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585" y="1513205"/>
            <a:ext cx="4709160" cy="39592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left.png"/>
          <p:cNvPicPr>
            <a:picLocks noChangeAspect="1"/>
          </p:cNvPicPr>
          <p:nvPr/>
        </p:nvPicPr>
        <p:blipFill>
          <a:blip r:embed="rId1"/>
          <a:srcRect l="7609" r="20713"/>
          <a:stretch>
            <a:fillRect/>
          </a:stretch>
        </p:blipFill>
        <p:spPr>
          <a:xfrm>
            <a:off x="400050" y="228600"/>
            <a:ext cx="753745" cy="1051560"/>
          </a:xfrm>
          <a:prstGeom prst="rect">
            <a:avLst/>
          </a:prstGeom>
        </p:spPr>
      </p:pic>
      <p:pic>
        <p:nvPicPr>
          <p:cNvPr id="3" name="Image 1" descr="logo_right.png"/>
          <p:cNvPicPr>
            <a:picLocks noChangeAspect="1"/>
          </p:cNvPicPr>
          <p:nvPr/>
        </p:nvPicPr>
        <p:blipFill>
          <a:blip r:embed="rId2"/>
          <a:srcRect r="22419"/>
          <a:stretch>
            <a:fillRect/>
          </a:stretch>
        </p:blipFill>
        <p:spPr>
          <a:xfrm>
            <a:off x="10835640" y="228600"/>
            <a:ext cx="892175" cy="10058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63040" y="365760"/>
            <a:ext cx="9235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822960" y="1737360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LEX and its modern version Flex are widely used to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automatically generate lexical analyzers.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822960" y="2907792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ANTLR is a popular parser generator that also handles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tokenization for many languages.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822960" y="4078224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Data-format parsers tokenize braces, tags, and values before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validating overall structure.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822960" y="5248656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JavaScript engines like V8 tokenize scripts before compiling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and executing them.</a:t>
            </a:r>
            <a:endParaRPr lang="en-US" sz="19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900" y="1737360"/>
            <a:ext cx="4376420" cy="40474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left.png"/>
          <p:cNvPicPr>
            <a:picLocks noChangeAspect="1"/>
          </p:cNvPicPr>
          <p:nvPr/>
        </p:nvPicPr>
        <p:blipFill>
          <a:blip r:embed="rId1"/>
          <a:srcRect l="7609" r="20713"/>
          <a:stretch>
            <a:fillRect/>
          </a:stretch>
        </p:blipFill>
        <p:spPr>
          <a:xfrm>
            <a:off x="400050" y="228600"/>
            <a:ext cx="753745" cy="1051560"/>
          </a:xfrm>
          <a:prstGeom prst="rect">
            <a:avLst/>
          </a:prstGeom>
        </p:spPr>
      </p:pic>
      <p:pic>
        <p:nvPicPr>
          <p:cNvPr id="3" name="Image 1" descr="logo_right.png"/>
          <p:cNvPicPr>
            <a:picLocks noChangeAspect="1"/>
          </p:cNvPicPr>
          <p:nvPr/>
        </p:nvPicPr>
        <p:blipFill>
          <a:blip r:embed="rId2"/>
          <a:srcRect r="22419"/>
          <a:stretch>
            <a:fillRect/>
          </a:stretch>
        </p:blipFill>
        <p:spPr>
          <a:xfrm>
            <a:off x="10835640" y="228600"/>
            <a:ext cx="892175" cy="10058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63040" y="365760"/>
            <a:ext cx="9235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822960" y="1737360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LEX and its modern version Flex are widely used to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automatically generate lexical analyzers.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822960" y="2907792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ANTLR is a popular parser generator that also handles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tokenization for many languages.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822960" y="4078224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Data-format parsers tokenize braces, tags, and values before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validating overall structure.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822960" y="5248656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30000"/>
              </a:lnSpc>
              <a:buSzPct val="100000"/>
              <a:buChar char="➢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JavaScript engines like V8 tokenize scripts before compiling</a:t>
            </a:r>
            <a:endParaRPr lang="en-US" sz="1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and executing them.</a:t>
            </a:r>
            <a:endParaRPr lang="en-US" sz="19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900" y="1737360"/>
            <a:ext cx="4376420" cy="40474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left.png"/>
          <p:cNvPicPr>
            <a:picLocks noChangeAspect="1"/>
          </p:cNvPicPr>
          <p:nvPr/>
        </p:nvPicPr>
        <p:blipFill>
          <a:blip r:embed="rId1"/>
          <a:srcRect l="7609" r="20713"/>
          <a:stretch>
            <a:fillRect/>
          </a:stretch>
        </p:blipFill>
        <p:spPr>
          <a:xfrm>
            <a:off x="400050" y="228600"/>
            <a:ext cx="753745" cy="1051560"/>
          </a:xfrm>
          <a:prstGeom prst="rect">
            <a:avLst/>
          </a:prstGeom>
        </p:spPr>
      </p:pic>
      <p:pic>
        <p:nvPicPr>
          <p:cNvPr id="3" name="Image 1" descr="logo_right.png"/>
          <p:cNvPicPr>
            <a:picLocks noChangeAspect="1"/>
          </p:cNvPicPr>
          <p:nvPr/>
        </p:nvPicPr>
        <p:blipFill>
          <a:blip r:embed="rId2"/>
          <a:srcRect r="22419"/>
          <a:stretch>
            <a:fillRect/>
          </a:stretch>
        </p:blipFill>
        <p:spPr>
          <a:xfrm>
            <a:off x="10835640" y="228600"/>
            <a:ext cx="892175" cy="10058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00200" y="2945130"/>
            <a:ext cx="9235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THANK YOU</a:t>
            </a:r>
            <a:endParaRPr lang="en-US"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3091</Words>
  <Application>WPS Presentation</Application>
  <PresentationFormat>On-screen Show (16:9)</PresentationFormat>
  <Paragraphs>129</Paragraphs>
  <Slides>11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Times New Roman</vt:lpstr>
      <vt:lpstr>Times New Roman</vt:lpstr>
      <vt:lpstr>Times New Roman</vt:lpstr>
      <vt:lpstr>Microsoft YaHei</vt:lpstr>
      <vt:lpstr>Arial Unicode MS</vt:lpstr>
      <vt:lpstr>Calibri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aziz</cp:lastModifiedBy>
  <cp:revision>6</cp:revision>
  <dcterms:created xsi:type="dcterms:W3CDTF">2026-07-28T01:29:00Z</dcterms:created>
  <dcterms:modified xsi:type="dcterms:W3CDTF">2026-07-28T08:06:45Z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9E69F987B0324BF798DD454418DE1536_12</vt:lpwstr>
  </property>
</Properties>
</file>